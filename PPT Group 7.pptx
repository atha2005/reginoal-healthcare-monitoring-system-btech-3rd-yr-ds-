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671798"/>
            <a:ext cx="657161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3955" y="2097050"/>
            <a:ext cx="6524088" cy="2002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2953" y="6466776"/>
            <a:ext cx="3902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1225" y="6466776"/>
            <a:ext cx="73596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52733" y="6466776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609600" y="2097050"/>
            <a:ext cx="10972799" cy="2275623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8890" marR="5080" algn="ctr">
              <a:lnSpc>
                <a:spcPts val="4320"/>
              </a:lnSpc>
              <a:spcBef>
                <a:spcPts val="645"/>
              </a:spcBef>
            </a:pPr>
            <a:r>
              <a:rPr dirty="0"/>
              <a:t>Mini</a:t>
            </a:r>
            <a:r>
              <a:rPr spc="-80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II</a:t>
            </a:r>
            <a:r>
              <a:rPr spc="-80" dirty="0"/>
              <a:t> </a:t>
            </a:r>
            <a:r>
              <a:rPr spc="-10" dirty="0"/>
              <a:t>Presentation </a:t>
            </a:r>
            <a:r>
              <a:rPr spc="-25" dirty="0"/>
              <a:t>on</a:t>
            </a:r>
          </a:p>
          <a:p>
            <a:pPr algn="ctr">
              <a:lnSpc>
                <a:spcPts val="6385"/>
              </a:lnSpc>
            </a:pPr>
            <a:r>
              <a:rPr sz="6000" b="0" dirty="0">
                <a:latin typeface="Calibri"/>
                <a:cs typeface="Calibri"/>
              </a:rPr>
              <a:t>“</a:t>
            </a:r>
            <a:r>
              <a:rPr lang="en-US" dirty="0">
                <a:solidFill>
                  <a:srgbClr val="FF0000"/>
                </a:solidFill>
              </a:rPr>
              <a:t>Regional Healthcare Monitoring Using </a:t>
            </a:r>
          </a:p>
          <a:p>
            <a:pPr algn="ctr">
              <a:lnSpc>
                <a:spcPts val="6385"/>
              </a:lnSpc>
            </a:pPr>
            <a:r>
              <a:rPr lang="en-US" dirty="0">
                <a:solidFill>
                  <a:srgbClr val="FF0000"/>
                </a:solidFill>
              </a:rPr>
              <a:t>Machine Learning</a:t>
            </a:r>
            <a:r>
              <a:rPr sz="6000" b="0" spc="-10" dirty="0">
                <a:latin typeface="Calibri"/>
                <a:cs typeface="Calibri"/>
              </a:rPr>
              <a:t>”</a:t>
            </a:r>
            <a:endParaRPr sz="6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191" y="4603987"/>
            <a:ext cx="4955809" cy="2469907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by,</a:t>
            </a:r>
            <a:endParaRPr sz="20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760"/>
              </a:spcBef>
            </a:pPr>
            <a:r>
              <a:rPr lang="en-US" sz="2000" dirty="0">
                <a:latin typeface="Times New Roman"/>
                <a:cs typeface="Times New Roman"/>
              </a:rPr>
              <a:t>13 </a:t>
            </a:r>
            <a:r>
              <a:rPr lang="en-US" sz="2000" spc="-10" dirty="0">
                <a:latin typeface="Times New Roman"/>
                <a:cs typeface="Times New Roman"/>
              </a:rPr>
              <a:t>Atharva B. Patil</a:t>
            </a:r>
            <a:r>
              <a:rPr sz="2000" spc="-10" dirty="0">
                <a:latin typeface="Times New Roman"/>
                <a:cs typeface="Times New Roman"/>
              </a:rPr>
              <a:t> (PRN</a:t>
            </a:r>
            <a:r>
              <a:rPr lang="en-US" sz="2000" spc="-10" dirty="0">
                <a:latin typeface="Times New Roman"/>
                <a:cs typeface="Times New Roman"/>
              </a:rPr>
              <a:t>:2024011052012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lang="en-US" sz="2000" spc="-10" dirty="0">
              <a:latin typeface="Times New Roman"/>
              <a:cs typeface="Times New Roman"/>
            </a:endParaRPr>
          </a:p>
          <a:p>
            <a:pPr algn="l">
              <a:spcBef>
                <a:spcPts val="760"/>
              </a:spcBef>
            </a:pPr>
            <a:r>
              <a:rPr lang="en-US" sz="2000" dirty="0">
                <a:latin typeface="Times New Roman"/>
                <a:cs typeface="Times New Roman"/>
              </a:rPr>
              <a:t>17 </a:t>
            </a:r>
            <a:r>
              <a:rPr lang="en-US" sz="2000" spc="-10" dirty="0">
                <a:latin typeface="Times New Roman"/>
                <a:cs typeface="Times New Roman"/>
              </a:rPr>
              <a:t>Tejas T. Patil (PRN:2024011052013)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spcBef>
                <a:spcPts val="760"/>
              </a:spcBef>
            </a:pPr>
            <a:r>
              <a:rPr lang="en-US" sz="2000" dirty="0">
                <a:latin typeface="Times New Roman"/>
                <a:cs typeface="Times New Roman"/>
              </a:rPr>
              <a:t>26 </a:t>
            </a:r>
            <a:r>
              <a:rPr lang="en-US" sz="2000" spc="-10" dirty="0">
                <a:latin typeface="Times New Roman"/>
                <a:cs typeface="Times New Roman"/>
              </a:rPr>
              <a:t>Tejas S. Bhandwalkar (PRN:2024011052012)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spcBef>
                <a:spcPts val="76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29 Aryan A. </a:t>
            </a:r>
            <a:r>
              <a:rPr lang="en-US" sz="2000" spc="-10" dirty="0" err="1">
                <a:latin typeface="Times New Roman"/>
                <a:cs typeface="Times New Roman"/>
              </a:rPr>
              <a:t>Jamdar</a:t>
            </a:r>
            <a:r>
              <a:rPr lang="en-US" sz="2000" spc="-10" dirty="0">
                <a:latin typeface="Times New Roman"/>
                <a:cs typeface="Times New Roman"/>
              </a:rPr>
              <a:t> (PRN:2024011052012)</a:t>
            </a:r>
            <a:endParaRPr lang="en-US"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12032628" cy="14343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61880" y="5464313"/>
            <a:ext cx="233108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317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Guidance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of, </a:t>
            </a:r>
            <a:r>
              <a:rPr sz="2000" dirty="0">
                <a:latin typeface="Times New Roman"/>
                <a:cs typeface="Times New Roman"/>
              </a:rPr>
              <a:t>Mr.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Naresh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Kamble </a:t>
            </a:r>
            <a:r>
              <a:rPr sz="2000" dirty="0">
                <a:latin typeface="Times New Roman"/>
                <a:cs typeface="Times New Roman"/>
              </a:rPr>
              <a:t>(MP-II</a:t>
            </a:r>
            <a:r>
              <a:rPr sz="2000" spc="-10" dirty="0">
                <a:latin typeface="Times New Roman"/>
                <a:cs typeface="Times New Roman"/>
              </a:rPr>
              <a:t> Guide)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15" y="1719147"/>
            <a:ext cx="3098800" cy="32188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Conclusion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ADD66B-9EC8-88CC-EE73-C4B259070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48" y="1447800"/>
            <a:ext cx="11807651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titled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“Regional Healthcare Monitoring using Machine Learning”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analyzing patient data to study      health outcomes region-wise.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aims to monitor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cured and non-cured lung disease patients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major factors affecting recovery.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Random Forest, Decision Tree, and Logistic Regression are used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introduces additional features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Oxygen Level, Chronic Infection, and Severity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monitoring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showing total patients, cured, non-cured, and non-cured percentage.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ML model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explain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“Why patients can’t cover up.”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Insights from the system help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authorities identify high-risk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plan preventive 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bridges the gap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medical data and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data-driven healthcare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145" dirty="0"/>
              <a:t> </a:t>
            </a:r>
            <a:r>
              <a:rPr spc="-10" dirty="0"/>
              <a:t>REVEIW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35348"/>
              </p:ext>
            </p:extLst>
          </p:nvPr>
        </p:nvGraphicFramePr>
        <p:xfrm>
          <a:off x="150964" y="1350501"/>
          <a:ext cx="11849100" cy="4998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9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2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170815" marR="167005" indent="-635" algn="ctr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work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done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79095" marR="371475" indent="1035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8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Achieved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1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5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found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31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fr-FR" sz="16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600" dirty="0"/>
                        <a:t>Kumar et al. (2023) – </a:t>
                      </a:r>
                      <a:r>
                        <a:rPr lang="fr-FR" sz="1600" dirty="0" err="1"/>
                        <a:t>Feature</a:t>
                      </a:r>
                      <a:r>
                        <a:rPr lang="fr-FR" sz="1600" dirty="0"/>
                        <a:t> Importance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Factor ranking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Missing visualization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Reddy &amp; Sharma (2022) – Cloud-Based Monitoring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IoT, Cloud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Real-time tracking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acks regional  analysis 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Patel &amp; Singh (2021) – ML for Lung Disease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Accurate lung disease detection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regional monitoring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Smith &amp; Doe (2020) – Regional Health ML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SVM, AI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Health pattern analysis</a:t>
                      </a:r>
                      <a:endParaRPr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non-cured factor study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65" dirty="0"/>
              <a:t>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860D3-DD00-0890-C7AE-3FD6AE0C093C}"/>
              </a:ext>
            </a:extLst>
          </p:cNvPr>
          <p:cNvSpPr txBox="1"/>
          <p:nvPr/>
        </p:nvSpPr>
        <p:spPr>
          <a:xfrm>
            <a:off x="457200" y="1723298"/>
            <a:ext cx="112776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healthcare systems primarily focus on disease prediction and diagnosis but lack a continuous monitoring mechanism at the regional level. There is a need for a system that can analyze non-cured patient data to identify the reasons behind treatment failure and regional health disparities. The challenge is to design a machine learning–based regional healthcare monitoring framework that not only tracks patient recovery status but also interprets why certain patients fail to recover, enabling data-driven healthcare decisions.— while maintaining full data privacy and using only non-sensitive, publicly available datasets.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10511-3831-15E8-4F7C-0CDC388C834F}"/>
              </a:ext>
            </a:extLst>
          </p:cNvPr>
          <p:cNvSpPr txBox="1"/>
          <p:nvPr/>
        </p:nvSpPr>
        <p:spPr>
          <a:xfrm>
            <a:off x="685800" y="1600200"/>
            <a:ext cx="102108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regional healthcare monitoring system that analyses patient health data using machine learning techniques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non-cured patients and determine the key factors contributing to their non recovery.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region-wise comparisons of cured and non-cured cases for better healthcare planning.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a feature importance model that explains why certain patients or regions fail to achieve full recovery.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40ED3-886B-B296-7C01-5F108CAC10DB}"/>
              </a:ext>
            </a:extLst>
          </p:cNvPr>
          <p:cNvSpPr txBox="1"/>
          <p:nvPr/>
        </p:nvSpPr>
        <p:spPr>
          <a:xfrm>
            <a:off x="685800" y="1600200"/>
            <a:ext cx="112776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Pandas, Scikit-learn, Matplotlib, Seaborn.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Forest, Decision Tree, Logistic Regression.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5182-DC05-4B96-4810-FA19222AB13C}"/>
              </a:ext>
            </a:extLst>
          </p:cNvPr>
          <p:cNvSpPr/>
          <p:nvPr/>
        </p:nvSpPr>
        <p:spPr>
          <a:xfrm>
            <a:off x="304800" y="2819400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Load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CA503E-ABE2-EA24-ACC6-1C8CB871CD55}"/>
              </a:ext>
            </a:extLst>
          </p:cNvPr>
          <p:cNvCxnSpPr>
            <a:stCxn id="10" idx="3"/>
          </p:cNvCxnSpPr>
          <p:nvPr/>
        </p:nvCxnSpPr>
        <p:spPr>
          <a:xfrm>
            <a:off x="2057400" y="31242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C08B1-FCB9-C072-D3CC-B446AC945C06}"/>
              </a:ext>
            </a:extLst>
          </p:cNvPr>
          <p:cNvSpPr/>
          <p:nvPr/>
        </p:nvSpPr>
        <p:spPr>
          <a:xfrm>
            <a:off x="2667000" y="2799129"/>
            <a:ext cx="1752600" cy="609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Processing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D70981-E909-C847-5EB1-CA7D41731373}"/>
              </a:ext>
            </a:extLst>
          </p:cNvPr>
          <p:cNvCxnSpPr>
            <a:stCxn id="13" idx="3"/>
          </p:cNvCxnSpPr>
          <p:nvPr/>
        </p:nvCxnSpPr>
        <p:spPr>
          <a:xfrm flipV="1">
            <a:off x="4419600" y="3103928"/>
            <a:ext cx="685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74060A9-EAD0-D25F-54B0-DAC450C90377}"/>
              </a:ext>
            </a:extLst>
          </p:cNvPr>
          <p:cNvSpPr/>
          <p:nvPr/>
        </p:nvSpPr>
        <p:spPr>
          <a:xfrm>
            <a:off x="7772402" y="2831086"/>
            <a:ext cx="1981200" cy="629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Regional Monitoring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8D2228-B189-2C78-B847-3F7630420E4E}"/>
              </a:ext>
            </a:extLst>
          </p:cNvPr>
          <p:cNvCxnSpPr>
            <a:stCxn id="16" idx="3"/>
          </p:cNvCxnSpPr>
          <p:nvPr/>
        </p:nvCxnSpPr>
        <p:spPr>
          <a:xfrm flipV="1">
            <a:off x="9753602" y="3146021"/>
            <a:ext cx="8381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E34060D-E695-CB5F-2CC1-0E2DEA55768F}"/>
              </a:ext>
            </a:extLst>
          </p:cNvPr>
          <p:cNvSpPr/>
          <p:nvPr/>
        </p:nvSpPr>
        <p:spPr>
          <a:xfrm>
            <a:off x="5105402" y="2834144"/>
            <a:ext cx="1981200" cy="629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Machine Learning Analysis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14930F-4056-2DE7-79EE-D98190A7E0E7}"/>
              </a:ext>
            </a:extLst>
          </p:cNvPr>
          <p:cNvCxnSpPr>
            <a:stCxn id="21" idx="3"/>
          </p:cNvCxnSpPr>
          <p:nvPr/>
        </p:nvCxnSpPr>
        <p:spPr>
          <a:xfrm flipV="1">
            <a:off x="7086602" y="3149079"/>
            <a:ext cx="685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377BCDD-17B8-E6B9-8F66-177F78C4A2B7}"/>
              </a:ext>
            </a:extLst>
          </p:cNvPr>
          <p:cNvSpPr/>
          <p:nvPr/>
        </p:nvSpPr>
        <p:spPr>
          <a:xfrm>
            <a:off x="10591800" y="2767173"/>
            <a:ext cx="1447800" cy="693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HARDWARE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100" dirty="0"/>
              <a:t> </a:t>
            </a:r>
            <a:r>
              <a:rPr spc="-50" dirty="0"/>
              <a:t>SOFTWARE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8914F2E-34CA-6953-0A51-2037972D0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dirty="0"/>
              <a:t>Hardware: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 or above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RAM minimum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 processor.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Software:</a:t>
            </a:r>
          </a:p>
          <a:p>
            <a:pPr marL="342900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</a:t>
            </a:r>
          </a:p>
          <a:p>
            <a:pPr marL="342900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 marL="342900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Scikit-learn, Matplotlib, Seaborn</a:t>
            </a:r>
          </a:p>
          <a:p>
            <a:pPr marL="342900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for dataset handling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23-09-2025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Science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EC3AA-5B36-528B-08AE-410FB42B2DDA}"/>
              </a:ext>
            </a:extLst>
          </p:cNvPr>
          <p:cNvSpPr txBox="1"/>
          <p:nvPr/>
        </p:nvSpPr>
        <p:spPr>
          <a:xfrm>
            <a:off x="593851" y="1306798"/>
            <a:ext cx="10747375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regional healthcare monitoring system using machine learning techniques.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lung disease patient data to monitor cured and non-cured cases region-wise.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factors influencing non-recovery, such as smoking habits, oxygen level, and chronic infection.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feature importance analysis to explain “Why patients can’t cover up.”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data-driven insights to help healthcare authorities improve recovery and resource allocation.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scalable system that can be extended to other diseases and health domains.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767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Times New Roman</vt:lpstr>
      <vt:lpstr>Office Theme</vt:lpstr>
      <vt:lpstr>PowerPoint Presentation</vt:lpstr>
      <vt:lpstr>CONTENTS</vt:lpstr>
      <vt:lpstr>INTRODUCTION</vt:lpstr>
      <vt:lpstr>LITERATURE REVEIW</vt:lpstr>
      <vt:lpstr>PROBLEM STATEMENT</vt:lpstr>
      <vt:lpstr>OBJECTIVE</vt:lpstr>
      <vt:lpstr>METHODOLOGY</vt:lpstr>
      <vt:lpstr>HARDWARE &amp; SOFTWARE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MP-II PRESENATION FORMAT.pptx</dc:title>
  <dc:creator>Tejas Bhandwalkar</dc:creator>
  <cp:lastModifiedBy>Tejas Bhandwalkar</cp:lastModifiedBy>
  <cp:revision>1</cp:revision>
  <dcterms:created xsi:type="dcterms:W3CDTF">2025-10-09T06:08:28Z</dcterms:created>
  <dcterms:modified xsi:type="dcterms:W3CDTF">2025-10-09T06:53:16Z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2025-10-09T00:00:00Z</vt:filetime>
  </property>
</Properties>
</file>